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4D3B"/>
                </a:solidFill>
              </a:rPr>
              <a:t>AGENTICTHON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14110F"/>
                </a:solidFill>
              </a:rPr>
              <a:t>درع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29968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29968"/>
            <a:ext cx="1828800" cy="19050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5A4E"/>
                </a:solidFill>
              </a:rPr>
              <a:t>DARAA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3347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A342E"/>
                </a:solidFill>
              </a:rPr>
              <a:t>مستشار ذكاء اصطناعي متعدد الوكلاء للسوق السعودي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35A4E"/>
                </a:solidFill>
              </a:rPr>
              <a:t>Saudi Business Formation &amp; Compliance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794760"/>
            <a:ext cx="3246120" cy="347472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4D3B"/>
                </a:solidFill>
              </a:rPr>
              <a:t>⚙️  Process 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3794760"/>
            <a:ext cx="3246120" cy="347472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79476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4D3B"/>
                </a:solidFill>
              </a:rPr>
              <a:t>🤖  Multi-Agent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794760"/>
            <a:ext cx="3246120" cy="347472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79476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4D3B"/>
                </a:solidFill>
              </a:rPr>
              <a:t>🔗  Agent-to-Agent (A2A)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15968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622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4D3B"/>
                </a:solidFill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743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5A4E"/>
                </a:solidFill>
              </a:rPr>
              <a:t>وكيل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44622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4D3B"/>
                </a:solidFill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9743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5A4E"/>
                </a:solidFill>
              </a:rPr>
              <a:t>متخصص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4622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4D3B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9743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5A4E"/>
                </a:solidFill>
              </a:rPr>
              <a:t>فاحصات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4622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4D3B"/>
                </a:solidFill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9743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5A4E"/>
                </a:solidFill>
              </a:rPr>
              <a:t>قاعدة PDPL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46227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4D3B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9743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5A4E"/>
                </a:solidFill>
              </a:rPr>
              <a:t>وثائق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50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342E"/>
                </a:solidFill>
              </a:rPr>
              <a:t>بدر العمري  ·  سفر الدوسري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167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35A4E"/>
                </a:solidFill>
              </a:rPr>
              <a:t>Next.js 14  ·  Claude Sonnet 4.6  ·  TypeScript  ·  Anthropic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4D3B"/>
                </a:solidFill>
              </a:rP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4110F"/>
                </a:solidFill>
              </a:rPr>
              <a:t>مشكلة صاحب العمل السعودي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31750"/>
          </a:xfrm>
          <a:prstGeom prst="rect">
            <a:avLst/>
          </a:prstGeom>
          <a:solidFill>
            <a:srgbClr val="9B2C2C"/>
          </a:solidFill>
          <a:ln w="9525"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4110F"/>
                </a:solidFill>
              </a:rPr>
              <a:t>⚠️  الامتثال والمخاطر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—  PDPL: نظام حماية البيانات الشخصية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774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—  NCA ECC: ضوابط الأمن السيبراني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346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—  ZATCA: الفاتورة الإلكترونية المرحلة الثانية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2918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—  معظم الشركات لا تعرف وضعها الحقيقي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490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B2C2C"/>
                </a:solidFill>
              </a:rPr>
              <a:t>—  💰  غرامات تصل 5,000,000 ريال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80"/>
            <a:ext cx="5212080" cy="502920"/>
          </a:xfrm>
          <a:prstGeom prst="rect">
            <a:avLst/>
          </a:prstGeom>
          <a:solidFill>
            <a:srgbClr val="F6E9D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3159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8571E"/>
                </a:solidFill>
              </a:rPr>
              <a:t>5,000,000 ريال — سقف غرامة PDPL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36792" y="1280160"/>
            <a:ext cx="53949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280160"/>
            <a:ext cx="5394960" cy="31750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38988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14110F"/>
                </a:solidFill>
              </a:rPr>
              <a:t>🏗️  تأسيس الشركة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—  7–15 جهة حكومية بتسلسل معقد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774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—  خطأ في الترتيب = أسابيع ضائعة ووثائق مرفوضة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—  تبعيات خفية — جهة تحجب الأخرى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9184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—  لا دليل موحّد يشمل كل القطاعات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4315968"/>
            <a:ext cx="731520" cy="274320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MCI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4315968"/>
            <a:ext cx="731520" cy="274320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ZATCA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4315968"/>
            <a:ext cx="731520" cy="274320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SFDA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4315968"/>
            <a:ext cx="731520" cy="274320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Civil Defense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55480" y="4315968"/>
            <a:ext cx="731520" cy="274320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Municipality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332720" y="4315968"/>
            <a:ext cx="731520" cy="274320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MOHR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09960" y="4315968"/>
            <a:ext cx="731520" cy="274320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09960" y="431596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GOSI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4D3B"/>
                </a:solidFill>
              </a:rPr>
              <a:t>الحل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4110F"/>
                </a:solidFill>
              </a:rPr>
              <a:t>الحل — منصة درع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0972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4110F"/>
                </a:solidFill>
              </a:rPr>
              <a:t>"ودي أفتح كوفي بجدة أنا وشريك رأس مال ٨٠ ألف"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836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4D3B"/>
                </a:solidFill>
              </a:rPr>
              <a:t>↓  Claude Sonnet 4.6 يستخرج 10 حقول من جملة واحدة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148840" cy="310896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D3B"/>
                </a:solidFill>
              </a:rPr>
              <a:t>vertical=restaurant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06624" y="2286000"/>
            <a:ext cx="2148840" cy="310896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6624" y="228600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D3B"/>
                </a:solidFill>
              </a:rPr>
              <a:t>city=jeddah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2286000"/>
            <a:ext cx="2148840" cy="310896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228600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D3B"/>
                </a:solidFill>
              </a:rPr>
              <a:t>partners=2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5472" y="2286000"/>
            <a:ext cx="2148840" cy="310896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228600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D3B"/>
                </a:solidFill>
              </a:rPr>
              <a:t>capital=80,000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54896" y="2286000"/>
            <a:ext cx="2148840" cy="310896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2286000"/>
            <a:ext cx="2148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4D3B"/>
                </a:solidFill>
              </a:rPr>
              <a:t>foreignPartner=false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53949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5394960" cy="31750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7121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110F"/>
                </a:solidFill>
              </a:rPr>
              <a:t>🏗️  Formation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64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✓  11 جهة حكومية بالتسلسل الصحيح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673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✓  تكاليف تقديرية لكل جهة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696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✓  وثائق مطلوبة + تحذيرات ذكية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572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✓  خارطة طريق جاهزة للتنفيذ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6792" y="2788920"/>
            <a:ext cx="53949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6792" y="2788920"/>
            <a:ext cx="5394960" cy="31750"/>
          </a:xfrm>
          <a:prstGeom prst="rect">
            <a:avLst/>
          </a:prstGeom>
          <a:solidFill>
            <a:srgbClr val="B8571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87121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110F"/>
                </a:solidFill>
              </a:rPr>
              <a:t>🔍  Compliance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36499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✓  فحص PDPL + NCA ECC + ZATCA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7673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✓  4 فاحصات تعمل بالتوازي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16966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✓  تقرير ثغرات + سقف الغرامة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✓  4 وثائق قانونية عربية جاهزة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4D3B"/>
                </a:solidFill>
              </a:rPr>
              <a:t>المعمارية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4110F"/>
                </a:solidFill>
              </a:rPr>
              <a:t>المعمارية — 7 طبقات · 19 وكيلاً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600200" cy="5760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508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4D3B"/>
                </a:solidFill>
              </a:rPr>
              <a:t>L1  User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234440"/>
            <a:ext cx="9418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342E"/>
                </a:solidFill>
              </a:rPr>
              <a:t>Next.js 14  ·  TypeScript strict  ·  Arabic-first Chat  ·  RTL  ·  Tailwind CSS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124712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600200" cy="5760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1508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4D3B"/>
                </a:solidFill>
              </a:rPr>
              <a:t>L2  Chat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828800"/>
            <a:ext cx="9418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342E"/>
                </a:solidFill>
              </a:rPr>
              <a:t>Claude Sonnet 4.6  ·  Gulf Arabic NLU  ·  AgentContext builder  ·  10-field extraction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124712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1600200" cy="5760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1508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B8571E"/>
                </a:solidFill>
              </a:rPr>
              <a:t>L3  AgentBus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423160"/>
            <a:ext cx="9418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342E"/>
                </a:solidFill>
              </a:rPr>
              <a:t>Real A2A  ·  Isolated inbox per agent  ·  Payload-bearing messages  ·  broadcast 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124712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1600200" cy="5760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17520"/>
            <a:ext cx="1508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B8571E"/>
                </a:solidFill>
              </a:rPr>
              <a:t>L4  Wave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017520"/>
            <a:ext cx="9418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342E"/>
                </a:solidFill>
              </a:rPr>
              <a:t>OrchestratorRuntime  ·  dependency-ordered waves  ·  MAX 16  ·  deadlock detection  ·  retry ×3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1124712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1600200" cy="5760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11880"/>
            <a:ext cx="1508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4D3B"/>
                </a:solidFill>
              </a:rPr>
              <a:t>L5  11 Specialists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611880"/>
            <a:ext cx="9418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342E"/>
                </a:solidFill>
              </a:rPr>
              <a:t>MCI · ZATCA · E-Invoice · MOHR+GOSI · Civil Defense · Municipality · SFDA · MOH · PDPL+NCA · Maroof · Contractor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06240"/>
            <a:ext cx="1124712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1600200" cy="5760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206240"/>
            <a:ext cx="1508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6534"/>
                </a:solidFill>
              </a:rPr>
              <a:t>L6  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206240"/>
            <a:ext cx="9418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342E"/>
                </a:solidFill>
              </a:rPr>
              <a:t>4 Web Scanners  ·  14 PDPL Rules  ·  Fine Calculator  ·  Personalizer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00600"/>
            <a:ext cx="11247120" cy="5760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800600"/>
            <a:ext cx="1600200" cy="5760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00600"/>
            <a:ext cx="15087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4D3B"/>
                </a:solidFill>
              </a:rPr>
              <a:t>L7  Document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800600"/>
            <a:ext cx="94183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342E"/>
                </a:solidFill>
              </a:rPr>
              <a:t>Claude Sonnet 4.6  ·  4 Arabic legal docs  ·  A4 print-ready  ·  window.print()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458968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57784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4D3B"/>
                </a:solidFill>
              </a:rPr>
              <a:t>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35A4E"/>
                </a:solidFill>
              </a:rPr>
              <a:t>Agents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557784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4D3B"/>
                </a:solidFill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6035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35A4E"/>
                </a:solidFill>
              </a:rPr>
              <a:t>Specialists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57784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4D3B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6035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35A4E"/>
                </a:solidFill>
              </a:rPr>
              <a:t>Scanners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557784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4D3B"/>
                </a:solidFill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6035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35A4E"/>
                </a:solidFill>
              </a:rPr>
              <a:t>PDPL 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57784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4D3B"/>
                </a:solidFill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60350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35A4E"/>
                </a:solidFill>
              </a:rPr>
              <a:t>Documents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4D3B"/>
                </a:solidFill>
              </a:rPr>
              <a:t>A2A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4110F"/>
                </a:solidFill>
              </a:rPr>
              <a:t>A2A الحقيقي — AgentBus · ليس مسرحاً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A342E"/>
                </a:solidFill>
              </a:rPr>
              <a:t>Wave Scheduler — تسلسل التنفيذ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64208"/>
            <a:ext cx="5394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38100" cy="749808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4D3B"/>
                </a:solidFill>
              </a:rPr>
              <a:t>Wave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792224"/>
            <a:ext cx="1051560" cy="292608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79222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MCI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792224"/>
            <a:ext cx="1051560" cy="292608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79222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SFDA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792224"/>
            <a:ext cx="1051560" cy="292608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79222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MOH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792224"/>
            <a:ext cx="1051560" cy="292608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79222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Maroof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13969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تشتغل بالتوازي — مستقلة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87168"/>
            <a:ext cx="5394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487168"/>
            <a:ext cx="38100" cy="749808"/>
          </a:xfrm>
          <a:prstGeom prst="rect">
            <a:avLst/>
          </a:prstGeom>
          <a:solidFill>
            <a:srgbClr val="B8571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487168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B8571E"/>
                </a:solidFill>
              </a:rPr>
              <a:t>Wave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2615184"/>
            <a:ext cx="1051560" cy="292608"/>
          </a:xfrm>
          <a:prstGeom prst="rect">
            <a:avLst/>
          </a:prstGeom>
          <a:solidFill>
            <a:srgbClr val="F6E9D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261518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8571E"/>
                </a:solidFill>
              </a:rPr>
              <a:t>CivilDefense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2615184"/>
            <a:ext cx="1051560" cy="292608"/>
          </a:xfrm>
          <a:prstGeom prst="rect">
            <a:avLst/>
          </a:prstGeom>
          <a:solidFill>
            <a:srgbClr val="F6E9D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61518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8571E"/>
                </a:solidFill>
              </a:rPr>
              <a:t>ZATCA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615184"/>
            <a:ext cx="1051560" cy="292608"/>
          </a:xfrm>
          <a:prstGeom prst="rect">
            <a:avLst/>
          </a:prstGeom>
          <a:solidFill>
            <a:srgbClr val="F6E9D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61518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8571E"/>
                </a:solidFill>
              </a:rPr>
              <a:t>E-Invoice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96265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تنتظر نتائج MCI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10128"/>
            <a:ext cx="53949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310128"/>
            <a:ext cx="38100" cy="749808"/>
          </a:xfrm>
          <a:prstGeom prst="rect">
            <a:avLst/>
          </a:prstGeom>
          <a:solidFill>
            <a:srgbClr val="166534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310128"/>
            <a:ext cx="914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6534"/>
                </a:solidFill>
              </a:rPr>
              <a:t>Wave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00200" y="3438144"/>
            <a:ext cx="1051560" cy="292608"/>
          </a:xfrm>
          <a:prstGeom prst="rect">
            <a:avLst/>
          </a:prstGeom>
          <a:solidFill>
            <a:srgbClr val="DCF0E5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00200" y="343814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6534"/>
                </a:solidFill>
              </a:rPr>
              <a:t>Municipality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3438144"/>
            <a:ext cx="1051560" cy="292608"/>
          </a:xfrm>
          <a:prstGeom prst="rect">
            <a:avLst/>
          </a:prstGeom>
          <a:solidFill>
            <a:srgbClr val="DCF0E5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3438144"/>
            <a:ext cx="1051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66534"/>
                </a:solidFill>
              </a:rPr>
              <a:t>MOHR+GOSI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78561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unblocked بعد { hasKitchen: true 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178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E4D3B"/>
                </a:solidFill>
              </a:rPr>
              <a:t>Research Agent → broadcast ALL → تحديثات PDPL/ZATCA/NCA لجميع الوكلاء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36792" y="1261872"/>
            <a:ext cx="5394960" cy="51023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36792" y="1261872"/>
            <a:ext cx="5394960" cy="31750"/>
          </a:xfrm>
          <a:prstGeom prst="rect">
            <a:avLst/>
          </a:prstGeom>
          <a:solidFill>
            <a:srgbClr val="B8571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4110F"/>
                </a:solidFill>
              </a:rPr>
              <a:t>مثال حيّ — Civil Defense → Municipality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1847088"/>
            <a:ext cx="5212080" cy="3474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18470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4D3B"/>
                </a:solidFill>
              </a:rPr>
              <a:t>🔥  CivilDefenseAgent — completes inspection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2231136"/>
            <a:ext cx="5212080" cy="3474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22311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5A4E"/>
                </a:solidFill>
              </a:rPr>
              <a:t>↓  emits to AgentBus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2615184"/>
            <a:ext cx="5212080" cy="3474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615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571E"/>
                </a:solidFill>
              </a:rPr>
              <a:t>{ from: 'civil_defense', to: 'municipality',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46520" y="2999232"/>
            <a:ext cx="5212080" cy="3474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2999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571E"/>
                </a:solidFill>
              </a:rPr>
              <a:t>  payload: { hasKitchen: true } 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46520" y="3383280"/>
            <a:ext cx="5212080" cy="3474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33832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35A4E"/>
                </a:solidFill>
              </a:rPr>
              <a:t>↓  MunicipalityAgent reads inbox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3767328"/>
            <a:ext cx="5212080" cy="347472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7673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6534"/>
                </a:solidFill>
              </a:rPr>
              <a:t>🏛️  Adds: ترخيص مطبخ تجاري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46520" y="4242816"/>
            <a:ext cx="5212080" cy="502920"/>
          </a:xfrm>
          <a:prstGeom prst="rect">
            <a:avLst/>
          </a:prstGeom>
          <a:solidFill>
            <a:srgbClr val="F6E9DE"/>
          </a:solidFill>
          <a:ln w="9525">
            <a:solidFill>
              <a:srgbClr val="9B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24281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9B2C2C"/>
                </a:solidFill>
              </a:rPr>
              <a:t>بدون هذه الرسالة → المتطلب لا يظهر أبداً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4D3B"/>
                </a:solidFill>
              </a:rPr>
              <a:t>AGENT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4110F"/>
                </a:solidFill>
              </a:rPr>
              <a:t>ما الذي يقرره كل وكيل؟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356616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3566160" cy="31750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4110F"/>
                </a:solidFill>
              </a:rPr>
              <a:t>💬  Chat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Claude 4.6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66544"/>
            <a:ext cx="33467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42E"/>
                </a:solidFill>
              </a:rPr>
              <a:t>أي حقل يُسأل بعد؟
استخراج 10 حقول من جملة واحدة
مستوى الثقة + scripted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61872"/>
            <a:ext cx="356616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61872"/>
            <a:ext cx="3566160" cy="31750"/>
          </a:xfrm>
          <a:prstGeom prst="rect">
            <a:avLst/>
          </a:prstGeom>
          <a:solidFill>
            <a:srgbClr val="B8571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353312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4110F"/>
                </a:solidFill>
              </a:rPr>
              <a:t>🌊  Wave 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7373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Deterministic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066544"/>
            <a:ext cx="33467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42E"/>
                </a:solidFill>
              </a:rPr>
              <a:t>أي وكيل جاهز للتنفيذ؟
حل التبعيات + كشف deadlock
retry × 3 للمحجوبين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261872"/>
            <a:ext cx="356616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61872"/>
            <a:ext cx="3566160" cy="31750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1353312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4110F"/>
                </a:solidFill>
              </a:rPr>
              <a:t>🔬  Research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17373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Claude + web_search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66544"/>
            <a:ext cx="33467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42E"/>
                </a:solidFill>
              </a:rPr>
              <a:t>ما التحديثات التنظيمية؟
بث broadcast لـ ALL
يُفلتر غير ذي الصلة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356616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3566160" cy="31750"/>
          </a:xfrm>
          <a:prstGeom prst="rect">
            <a:avLst/>
          </a:prstGeom>
          <a:solidFill>
            <a:srgbClr val="B8571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566160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4110F"/>
                </a:solidFill>
              </a:rPr>
              <a:t>⚖️  Analysis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950208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14 PDPL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79392"/>
            <a:ext cx="33467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42E"/>
                </a:solidFill>
              </a:rPr>
              <a:t>أي قواعد PDPL منتهكة؟
حساب سقف الغرامة
تخصيص حسب القطاع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3474720"/>
            <a:ext cx="356616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474720"/>
            <a:ext cx="3566160" cy="31750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3566160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4110F"/>
                </a:solidFill>
              </a:rPr>
              <a:t>📄  Document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950208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Claude 4.6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4279392"/>
            <a:ext cx="33467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42E"/>
                </a:solidFill>
              </a:rPr>
              <a:t>كيف يُخصَّص المستند؟
اسم + قطاع + مدينة + بيانات
4 وثائق قانونية عربية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474720"/>
            <a:ext cx="356616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474720"/>
            <a:ext cx="3566160" cy="31750"/>
          </a:xfrm>
          <a:prstGeom prst="rect">
            <a:avLst/>
          </a:prstGeom>
          <a:solidFill>
            <a:srgbClr val="166534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3566160"/>
            <a:ext cx="3346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4110F"/>
                </a:solidFill>
              </a:rPr>
              <a:t>🎯 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3950208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635A4E"/>
                </a:solidFill>
              </a:rPr>
              <a:t>Coordination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279392"/>
            <a:ext cx="33467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3A342E"/>
                </a:solidFill>
              </a:rPr>
              <a:t>متى تكتمل الجلسة؟
إدارة المهل الزمنية
phase → active_monitoring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4D3B"/>
                </a:solidFill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4110F"/>
                </a:solidFill>
              </a:rPr>
              <a:t>تجربة المنصة — مسارَان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539496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5394960" cy="31750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110F"/>
                </a:solidFill>
              </a:rPr>
              <a:t>🏗️  وضع التأسيس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212080" cy="457200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4708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4110F"/>
                </a:solidFill>
              </a:rPr>
              <a:t>"ودي أفتح كوفي بجدة أنا وشريك رأس مال ٨٠ ألف"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①  Claude يستخرج 5 حقول من جملة واحدة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163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②  سؤالان فقط للاستكمال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369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571E"/>
                </a:solidFill>
              </a:rPr>
              <a:t>③  Wave 1→2→3 · رسائل A2A بين الوكلاء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66534"/>
                </a:solidFill>
              </a:rPr>
              <a:t>④  خارطة طريق: 11 جهة + تكاليف + وثائق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43400"/>
            <a:ext cx="5212080" cy="384048"/>
          </a:xfrm>
          <a:prstGeom prst="rect">
            <a:avLst/>
          </a:prstGeom>
          <a:solidFill>
            <a:srgbClr val="E8EDE8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361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4D3B"/>
                </a:solidFill>
              </a:rPr>
              <a:t>MCI → Civil Defense → Municipality → ZATCA → SFDA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261872"/>
            <a:ext cx="5394960" cy="5138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6792" y="1261872"/>
            <a:ext cx="5394960" cy="31750"/>
          </a:xfrm>
          <a:prstGeom prst="rect">
            <a:avLst/>
          </a:prstGeom>
          <a:solidFill>
            <a:srgbClr val="B8571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35331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4110F"/>
                </a:solidFill>
              </a:rPr>
              <a:t>🔍  وضع الامتثال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828800"/>
            <a:ext cx="5212080" cy="457200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847088"/>
            <a:ext cx="5120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35A4E"/>
                </a:solidFill>
              </a:rPr>
              <a:t>https://novatech.sa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①  4 فاحصات تعمل بالتوازي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8163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B2C2C"/>
                </a:solidFill>
              </a:rPr>
              <a:t>②  ❌  سياسة الخصوصية العربية مفقودة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3697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571E"/>
                </a:solidFill>
              </a:rPr>
              <a:t>③  ⚠️  3 متعقبين خارجيين بدون موافقة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6576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B2C2C"/>
                </a:solidFill>
              </a:rPr>
              <a:t>④  ❌  HSTS · CSP مفقودتان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4343400"/>
            <a:ext cx="5212080" cy="384048"/>
          </a:xfrm>
          <a:prstGeom prst="rect">
            <a:avLst/>
          </a:prstGeom>
          <a:solidFill>
            <a:srgbClr val="F6E9D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361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8571E"/>
                </a:solidFill>
              </a:rPr>
              <a:t>32% امتثال  ·  6 ثغرات  ·  سقف غرامة 2M SAR  ·  4 وثائق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E4D3B"/>
                </a:solidFill>
              </a:rPr>
              <a:t>TRACKS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14110F"/>
                </a:solidFill>
              </a:rPr>
              <a:t>المسارات المغطاة والتقنيات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44450" cy="777240"/>
          </a:xfrm>
          <a:prstGeom prst="rect">
            <a:avLst/>
          </a:prstGeom>
          <a:solidFill>
            <a:srgbClr val="1E4D3B"/>
          </a:solidFill>
          <a:ln w="9525">
            <a:solidFill>
              <a:srgbClr val="1E4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E4D3B"/>
                </a:solidFill>
              </a:rPr>
              <a:t>⚙️  Process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53312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7–15 جهة · تسلسل صحيح · تبعيات محلوسبة · تكاليف · تواريخ تجديد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21408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21408"/>
            <a:ext cx="44450" cy="777240"/>
          </a:xfrm>
          <a:prstGeom prst="rect">
            <a:avLst/>
          </a:prstGeom>
          <a:solidFill>
            <a:srgbClr val="B8571E"/>
          </a:solidFill>
          <a:ln w="9525">
            <a:solidFill>
              <a:srgbClr val="B85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B8571E"/>
                </a:solidFill>
              </a:rPr>
              <a:t>🤖  Multi-Agent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19 وكيل · طبقتان (coordination + specialist) · Promise.allSettled · AbortController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62656"/>
            <a:ext cx="11247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62656"/>
            <a:ext cx="44450" cy="777240"/>
          </a:xfrm>
          <a:prstGeom prst="rect">
            <a:avLst/>
          </a:prstGeom>
          <a:solidFill>
            <a:srgbClr val="166534"/>
          </a:solidFill>
          <a:ln w="9525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03580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66534"/>
                </a:solidFill>
              </a:rPr>
              <a:t>🔗  A2A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035808"/>
            <a:ext cx="7406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3A342E"/>
                </a:solidFill>
              </a:rPr>
              <a:t>AgentBus حقيقي · inboxes معزولة · payloads تغيّر السلوك في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24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4110F"/>
                </a:solidFill>
              </a:rPr>
              <a:t>Stack: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4224528"/>
            <a:ext cx="1417320" cy="329184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22452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342E"/>
                </a:solidFill>
              </a:rPr>
              <a:t>Next.js 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224528"/>
            <a:ext cx="1417320" cy="329184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422452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342E"/>
                </a:solidFill>
              </a:rPr>
              <a:t>TypeScript strict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4224528"/>
            <a:ext cx="1417320" cy="329184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22452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342E"/>
                </a:solidFill>
              </a:rPr>
              <a:t>Claude Sonnet 4.6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24528"/>
            <a:ext cx="1417320" cy="329184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22452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342E"/>
                </a:solidFill>
              </a:rPr>
              <a:t>Anthropic SDK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224528"/>
            <a:ext cx="1417320" cy="329184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422452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342E"/>
                </a:solidFill>
              </a:rPr>
              <a:t>Zod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4224528"/>
            <a:ext cx="1417320" cy="329184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422452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342E"/>
                </a:solidFill>
              </a:rPr>
              <a:t>Cheerio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98480" y="4224528"/>
            <a:ext cx="1417320" cy="329184"/>
          </a:xfrm>
          <a:prstGeom prst="rect">
            <a:avLst/>
          </a:prstGeom>
          <a:solidFill>
            <a:srgbClr val="EFE9DB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4224528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342E"/>
                </a:solidFill>
              </a:rPr>
              <a:t>Vercel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828032"/>
            <a:ext cx="11247120" cy="12700"/>
          </a:xfrm>
          <a:prstGeom prst="rect">
            <a:avLst/>
          </a:prstGeom>
          <a:solidFill>
            <a:srgbClr val="D9D1C3"/>
          </a:solidFill>
          <a:ln w="9525">
            <a:solidFill>
              <a:srgbClr val="D9D1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E4D3B"/>
                </a:solidFill>
              </a:rPr>
              <a:t>درع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87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A342E"/>
                </a:solidFill>
              </a:rPr>
              <a:t>بدر العمري  ·  سفر الدوسري  —  Agenticthon 2026  🇸🇦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10819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35A4E"/>
                </a:solidFill>
              </a:rPr>
              <a:t>أداة استرشادية — لا تغني عن الاستشارة القانونية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